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5"/>
    <p:restoredTop sz="93636" autoAdjust="0"/>
  </p:normalViewPr>
  <p:slideViewPr>
    <p:cSldViewPr snapToGrid="0" snapToObjects="1">
      <p:cViewPr>
        <p:scale>
          <a:sx n="63" d="100"/>
          <a:sy n="63" d="100"/>
        </p:scale>
        <p:origin x="496" y="9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785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l-PL" noProof="0" dirty="0"/>
              <a:t>Wstęp (30 sekund): Dzień dobry, nazywamy się Maciej Modzelewski i Jakub Wrzosek. Chcemy zaprezentować Państwu projekt systemu informatycznego dla Sieci Hoteli </a:t>
            </a:r>
            <a:r>
              <a:rPr lang="en-US" noProof="0" dirty="0"/>
              <a:t>X-Hotels</a:t>
            </a:r>
            <a:r>
              <a:rPr lang="pl-PL" noProof="0" dirty="0"/>
              <a:t> -</a:t>
            </a:r>
            <a:r>
              <a:rPr lang="pl-PL" i="1" noProof="0" dirty="0"/>
              <a:t>nowoczesny system, który całkowicie zmieni to, jak hotele obsługują swoich gości.</a:t>
            </a:r>
            <a:endParaRPr lang="pl-PL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l-P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Hook i Problem (1 minuta): Czy zdarzyło się Państwu przyjechać zmęczonym do hotelu i czekać w półgodzinnej kolejce na wydanie klucza? Naszym klientom też. Hotele tracą wizerunek przez przestarzałe systemy, które nie odświeżają dostępności pokoi na czas, co prowadzi do najgorszego koszmaru - overbookingu. To strata pieniędzy i zaufania.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l-P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l-PL" noProof="0" dirty="0"/>
              <a:t>Rozwiązanie (1.5 minuty): Nasz system to nie tylko ładny interfejs. To scentralizowane serce zarządzania hotelem. Składa się z aplikacji dla gościa, w której dokonuje on pełnej, opłaconej rezerwacji oraz aplikacji dla recepcjonisty. Połączyliśmy płatności online bezpośrednio z logiką hotelu i fizycznym wydawaniem kluczy.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l-P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l-PL" noProof="0" dirty="0"/>
              <a:t>Korzyści (1.5 minuty): Co to oznacza w praktyce biznesowej? Gwarantujemy SLA 99,9% (gwarancja dostępności systemu 43 minuty i 50 sekund), a wyszukiwanie pokoi to mniej niż 3 sekundy. Eliminujemy </a:t>
            </a:r>
            <a:r>
              <a:rPr lang="en-US" noProof="0" dirty="0"/>
              <a:t>overbooking</a:t>
            </a:r>
            <a:r>
              <a:rPr lang="pl-PL" noProof="0" dirty="0"/>
              <a:t> do zera. To optymalizuje koszty i znacząco poprawia </a:t>
            </a:r>
            <a:r>
              <a:rPr lang="en-US" noProof="0" dirty="0"/>
              <a:t>User Experience</a:t>
            </a:r>
            <a:r>
              <a:rPr lang="pl-PL" noProof="0" dirty="0"/>
              <a:t>, na co kładziemy ogromny nacisk w naszym projekcie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l-P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l-PL" noProof="0" dirty="0"/>
              <a:t>Wizja (1 minuta): Wyobraźmy to sobie. Pan Jan znajduje z telefonu pokój, płaci jednym kliknięciem. Przyjeżdża do hotelu. Żadnych papierów do wypełniania, żadnego płacenia na miejscu. Podaje nazwisko, recepcjonista widzi zielone światło – saldo opłacone. Klika przycisk I wydaje klucz. Całość trwa 15 sekund.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l-P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l-PL" noProof="0" dirty="0"/>
              <a:t>CTA (1 minuta): Nasze rozwiązanie nie jest tylko abstrakcyjnym pomysłem. Przekłada się na konkretne diagramy w notacji UML, relacyjną bazę danych i zaprojektowane makiety, które przygotowaliśmy w dokumentacji projektu. Zbudowaliśmy solidny fundament.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l-PL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pl-PL" dirty="0"/>
              <a:t>Dziękujemy za uwagę i zapraszamy do szczegółowej weryfikacji naszej dokumentacji analitycznej!</a:t>
            </a:r>
          </a:p>
        </p:txBody>
      </p:sp>
    </p:spTree>
    <p:extLst>
      <p:ext uri="{BB962C8B-B14F-4D97-AF65-F5344CB8AC3E}">
        <p14:creationId xmlns:p14="http://schemas.microsoft.com/office/powerpoint/2010/main" val="3746892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AF86DBD5-3C18-04CB-5550-72BA9BBDCB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39" r="5950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35402" y="743447"/>
            <a:ext cx="3862151" cy="3692028"/>
          </a:xfrm>
          <a:noFill/>
        </p:spPr>
        <p:txBody>
          <a:bodyPr>
            <a:normAutofit fontScale="90000"/>
          </a:bodyPr>
          <a:lstStyle/>
          <a:p>
            <a:pPr algn="l"/>
            <a:r>
              <a:rPr lang="pl-PL" sz="5200" noProof="0" dirty="0"/>
              <a:t>System Informatyczny dla Sieci Hoteli </a:t>
            </a:r>
            <a:r>
              <a:rPr lang="en-US" sz="5200" noProof="0" dirty="0"/>
              <a:t>X-Hotels</a:t>
            </a:r>
            <a:endParaRPr lang="pl-PL" sz="5200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pl-PL" sz="2000" noProof="0"/>
              <a:t>Nowy standard obsługi gościa - Prezentacja Projektu</a:t>
            </a:r>
          </a:p>
          <a:p>
            <a:pPr algn="l">
              <a:lnSpc>
                <a:spcPct val="90000"/>
              </a:lnSpc>
            </a:pPr>
            <a:r>
              <a:rPr lang="pl-PL" sz="2000" noProof="0"/>
              <a:t>Autorzy: Maciej Modzelewski, Jakub Wrzosek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>
            <a:extLst>
              <a:ext uri="{FF2B5EF4-FFF2-40B4-BE49-F238E27FC236}">
                <a16:creationId xmlns:a16="http://schemas.microsoft.com/office/drawing/2014/main" id="{61ED79AB-9F22-8E01-C755-AD321AAA3F7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0"/>
          </a:blip>
          <a:srcRect l="14739" r="5950"/>
          <a:stretch>
            <a:fillRect/>
          </a:stretch>
        </p:blipFill>
        <p:spPr>
          <a:xfrm>
            <a:off x="0" y="0"/>
            <a:ext cx="9669642" cy="6857990"/>
          </a:xfrm>
          <a:prstGeom prst="rect">
            <a:avLst/>
          </a:prstGeom>
        </p:spPr>
      </p:pic>
      <p:sp>
        <p:nvSpPr>
          <p:cNvPr id="9" name="Rectangle 19">
            <a:extLst>
              <a:ext uri="{FF2B5EF4-FFF2-40B4-BE49-F238E27FC236}">
                <a16:creationId xmlns:a16="http://schemas.microsoft.com/office/drawing/2014/main" id="{58B3FC34-D3C1-71EF-F6D2-213DCBE86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l-PL" sz="4100" noProof="0" dirty="0">
                <a:solidFill>
                  <a:srgbClr val="FFFFFF"/>
                </a:solidFill>
              </a:rPr>
              <a:t>Rzeczywistość dzisiejszych hoteli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pl-PL" noProof="0" dirty="0"/>
              <a:t>Z czym mierzy się branża i goście?</a:t>
            </a:r>
          </a:p>
          <a:p>
            <a:pPr lvl="1"/>
            <a:r>
              <a:rPr lang="pl-PL" noProof="0" dirty="0"/>
              <a:t>Zirytowani goście w długich kolejkach do zameldowania.</a:t>
            </a:r>
          </a:p>
          <a:p>
            <a:pPr lvl="1"/>
            <a:r>
              <a:rPr lang="pl-PL" noProof="0" dirty="0"/>
              <a:t>Ryzyko nadrezerwacji (</a:t>
            </a:r>
            <a:r>
              <a:rPr lang="en-US" noProof="0" dirty="0"/>
              <a:t>overbooking</a:t>
            </a:r>
            <a:r>
              <a:rPr lang="pl-PL" noProof="0" dirty="0"/>
              <a:t>) przez opóźnienia w synchronizacji.</a:t>
            </a:r>
          </a:p>
          <a:p>
            <a:pPr lvl="1"/>
            <a:r>
              <a:rPr lang="pl-PL" noProof="0" dirty="0"/>
              <a:t>Chaos informacyjny - niespójne dane między stroną www a recepcją.</a:t>
            </a:r>
          </a:p>
          <a:p>
            <a:pPr lvl="1"/>
            <a:r>
              <a:rPr lang="pl-PL" noProof="0" dirty="0"/>
              <a:t>Brak nowoczesnej chmurowej infrastruktury.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62B253EC-5BFA-672B-DB1F-8185D5542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" y="4289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pl-PL" sz="4100" noProof="0">
                <a:solidFill>
                  <a:srgbClr val="FFFFFF"/>
                </a:solidFill>
              </a:rPr>
              <a:t>Nasza Odpowiedź: Zintegrowany System X-Hotels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pl-PL" noProof="0" dirty="0"/>
              <a:t>Kompleksowe rozwiązanie w jednym miejscu:</a:t>
            </a:r>
          </a:p>
          <a:p>
            <a:pPr lvl="1"/>
            <a:r>
              <a:rPr lang="pl-PL" noProof="0" dirty="0"/>
              <a:t>Nowoczesny moduł rezerwacji online dostępny 24/7 dla Gościa.</a:t>
            </a:r>
          </a:p>
          <a:p>
            <a:pPr lvl="1"/>
            <a:r>
              <a:rPr lang="pl-PL" noProof="0" dirty="0"/>
              <a:t>Przejrzysty i szybki panel zarządzania dla Recepcji w architekturze chmurowej.</a:t>
            </a:r>
          </a:p>
          <a:p>
            <a:pPr lvl="1"/>
            <a:r>
              <a:rPr lang="pl-PL" noProof="0" dirty="0"/>
              <a:t>Automatyczna integracja z bramkami płatności i sprzętowym koderem kart.</a:t>
            </a:r>
          </a:p>
          <a:p>
            <a:pPr lvl="1"/>
            <a:r>
              <a:rPr lang="pl-PL" noProof="0" dirty="0"/>
              <a:t>Centralna baza danych łącząca wszystkie kanały sprzedaży.</a:t>
            </a:r>
          </a:p>
        </p:txBody>
      </p:sp>
      <p:pic>
        <p:nvPicPr>
          <p:cNvPr id="7" name="Picture 4" descr="Kalkulator, pióro, kompas, pieniądze i papier z drukowanymi wykresami">
            <a:extLst>
              <a:ext uri="{FF2B5EF4-FFF2-40B4-BE49-F238E27FC236}">
                <a16:creationId xmlns:a16="http://schemas.microsoft.com/office/drawing/2014/main" id="{AEF533AD-70E0-D678-ECAA-11DF0E89347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0"/>
          </a:blip>
          <a:srcRect l="25303" r="21080" b="-2"/>
          <a:stretch>
            <a:fillRect/>
          </a:stretch>
        </p:blipFill>
        <p:spPr>
          <a:xfrm>
            <a:off x="12243681" y="4293"/>
            <a:ext cx="610282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pl-PL" sz="4000" noProof="0"/>
              <a:t>Kluczowe korzyści - Mówimy w liczbach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pl-PL" sz="2000" noProof="0"/>
              <a:t>Zyski dla sieci </a:t>
            </a:r>
            <a:r>
              <a:rPr lang="en-US" sz="2000" noProof="0"/>
              <a:t>X-Hotels</a:t>
            </a:r>
            <a:r>
              <a:rPr lang="pl-PL" sz="2000" noProof="0"/>
              <a:t>:</a:t>
            </a:r>
          </a:p>
          <a:p>
            <a:pPr lvl="1"/>
            <a:r>
              <a:rPr lang="pl-PL" sz="2000" noProof="0"/>
              <a:t>Dostępność na poziomie trzech dziewiątek (SLA 99,9%).</a:t>
            </a:r>
          </a:p>
          <a:p>
            <a:pPr lvl="1"/>
            <a:r>
              <a:rPr lang="pl-PL" sz="2000" noProof="0"/>
              <a:t>Czas wyszukiwania ofert i weryfikacji poniżej 3 sekund.</a:t>
            </a:r>
          </a:p>
          <a:p>
            <a:pPr lvl="1"/>
            <a:r>
              <a:rPr lang="pl-PL" sz="2000" noProof="0"/>
              <a:t>Całkowita eliminacja podwójnych rezerwacji.</a:t>
            </a:r>
          </a:p>
          <a:p>
            <a:pPr lvl="1"/>
            <a:r>
              <a:rPr lang="pl-PL" sz="2000" noProof="0"/>
              <a:t>Szybszy obrót i mniejsze kolejki - proces </a:t>
            </a:r>
            <a:r>
              <a:rPr lang="en-US" sz="2000" noProof="0"/>
              <a:t>check-in</a:t>
            </a:r>
            <a:r>
              <a:rPr lang="pl-PL" sz="2000" noProof="0"/>
              <a:t> bez zbędnej papierologii.</a:t>
            </a:r>
          </a:p>
        </p:txBody>
      </p:sp>
      <p:pic>
        <p:nvPicPr>
          <p:cNvPr id="5" name="Picture 4" descr="Kalkulator, pióro, kompas, pieniądze i papier z drukowanymi wykresami">
            <a:extLst>
              <a:ext uri="{FF2B5EF4-FFF2-40B4-BE49-F238E27FC236}">
                <a16:creationId xmlns:a16="http://schemas.microsoft.com/office/drawing/2014/main" id="{1D46BAAF-EE81-0D14-E2BF-769A7229DD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03" r="21080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 noProof="0"/>
              <a:t>Wizja Sukcesu: Oczami Gościa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281" y="1929384"/>
            <a:ext cx="10966372" cy="4251960"/>
          </a:xfrm>
        </p:spPr>
        <p:txBody>
          <a:bodyPr>
            <a:normAutofit/>
          </a:bodyPr>
          <a:lstStyle/>
          <a:p>
            <a:r>
              <a:rPr lang="pl-PL" sz="2800" noProof="0" dirty="0"/>
              <a:t>Nowy wymiar doświadczenia (UX):</a:t>
            </a:r>
          </a:p>
          <a:p>
            <a:pPr lvl="1"/>
            <a:r>
              <a:rPr lang="pl-PL" noProof="0" dirty="0"/>
              <a:t>KROK 1: Jan wybiera z telefonu wymarzony apartament na weekend w 2 minuty.</a:t>
            </a:r>
          </a:p>
          <a:p>
            <a:pPr lvl="1"/>
            <a:r>
              <a:rPr lang="pl-PL" noProof="0" dirty="0"/>
              <a:t>KROK 2: Bezpiecznie opłaca rezerwację – rezerwacja jest natychmiast opłacona w systemie.</a:t>
            </a:r>
          </a:p>
          <a:p>
            <a:pPr lvl="1"/>
            <a:r>
              <a:rPr lang="pl-PL" noProof="0" dirty="0"/>
              <a:t>KROK 3: Po przyjeździe do hotelu podaje tylko nazwisko. Recepcjonista widzi zielone światło i jednym kliknięciem koduje kartę.</a:t>
            </a:r>
          </a:p>
          <a:p>
            <a:pPr lvl="1"/>
            <a:r>
              <a:rPr lang="pl-PL" noProof="0" dirty="0"/>
              <a:t>W 15 sekund Jan odbiera klucz i odpoczywa w pokoju.</a:t>
            </a:r>
          </a:p>
        </p:txBody>
      </p:sp>
      <p:pic>
        <p:nvPicPr>
          <p:cNvPr id="4" name="Picture 4" descr="Kalkulator, pióro, kompas, pieniądze i papier z drukowanymi wykresami">
            <a:extLst>
              <a:ext uri="{FF2B5EF4-FFF2-40B4-BE49-F238E27FC236}">
                <a16:creationId xmlns:a16="http://schemas.microsoft.com/office/drawing/2014/main" id="{A605FAEF-A1A1-6207-5609-E6FEB168AE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0"/>
          </a:blip>
          <a:srcRect l="25303" r="21080" b="-2"/>
          <a:stretch>
            <a:fillRect/>
          </a:stretch>
        </p:blipFill>
        <p:spPr>
          <a:xfrm>
            <a:off x="6086127" y="6858000"/>
            <a:ext cx="610282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pl-PL" noProof="0" dirty="0"/>
              <a:t>Podsumowanie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553" y="2398957"/>
            <a:ext cx="10058400" cy="3526144"/>
          </a:xfrm>
        </p:spPr>
        <p:txBody>
          <a:bodyPr>
            <a:normAutofit/>
          </a:bodyPr>
          <a:lstStyle/>
          <a:p>
            <a:r>
              <a:rPr lang="pl-PL" sz="2800" noProof="0" dirty="0"/>
              <a:t>Dlaczego ten projekt jest gotowy na sukces?</a:t>
            </a:r>
          </a:p>
          <a:p>
            <a:pPr lvl="1"/>
            <a:r>
              <a:rPr lang="pl-PL" noProof="0" dirty="0"/>
              <a:t>Kompletna dokumentacja UML.</a:t>
            </a:r>
          </a:p>
          <a:p>
            <a:pPr lvl="1"/>
            <a:r>
              <a:rPr lang="pl-PL" noProof="0" dirty="0"/>
              <a:t>Przemyślany projekt bazy danych i prototypy menu.</a:t>
            </a:r>
          </a:p>
          <a:p>
            <a:pPr lvl="1"/>
            <a:r>
              <a:rPr lang="pl-PL" noProof="0" dirty="0"/>
              <a:t>System zaprojektowany tak, by skalował się razem z biznesem.</a:t>
            </a:r>
          </a:p>
          <a:p>
            <a:pPr lvl="1"/>
            <a:r>
              <a:rPr lang="pl-PL" noProof="0" dirty="0"/>
              <a:t>Zapraszamy do zapoznania się ze szczegółami dokumentacji analitycznej!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69CE4F86-B276-ACF6-DB35-92857DC516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0" y="-1640481"/>
            <a:ext cx="12192000" cy="1600201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ostokąt 5">
            <a:extLst>
              <a:ext uri="{FF2B5EF4-FFF2-40B4-BE49-F238E27FC236}">
                <a16:creationId xmlns:a16="http://schemas.microsoft.com/office/drawing/2014/main" id="{3B4C6F34-14C0-B3C5-F540-9800045DFB36}"/>
              </a:ext>
            </a:extLst>
          </p:cNvPr>
          <p:cNvSpPr/>
          <p:nvPr/>
        </p:nvSpPr>
        <p:spPr>
          <a:xfrm rot="10800000">
            <a:off x="0" y="0"/>
            <a:ext cx="12192000" cy="1600201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95F74D6-D31A-C959-48A0-D29376F3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>
                <a:solidFill>
                  <a:schemeClr val="bg1"/>
                </a:solidFill>
              </a:rPr>
              <a:t>Dziękujemy!</a:t>
            </a:r>
          </a:p>
        </p:txBody>
      </p:sp>
    </p:spTree>
    <p:extLst>
      <p:ext uri="{BB962C8B-B14F-4D97-AF65-F5344CB8AC3E}">
        <p14:creationId xmlns:p14="http://schemas.microsoft.com/office/powerpoint/2010/main" val="15995046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591</Words>
  <Application>Microsoft Macintosh PowerPoint</Application>
  <PresentationFormat>Panoramiczny</PresentationFormat>
  <Paragraphs>41</Paragraphs>
  <Slides>7</Slides>
  <Notes>7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System Informatyczny dla Sieci Hoteli X-Hotels</vt:lpstr>
      <vt:lpstr>Rzeczywistość dzisiejszych hoteli</vt:lpstr>
      <vt:lpstr>Nasza Odpowiedź: Zintegrowany System X-Hotels</vt:lpstr>
      <vt:lpstr>Kluczowe korzyści - Mówimy w liczbach</vt:lpstr>
      <vt:lpstr>Wizja Sukcesu: Oczami Gościa</vt:lpstr>
      <vt:lpstr>Podsumowanie</vt:lpstr>
      <vt:lpstr>Dziękujemy!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Jakub Wrzosek</cp:lastModifiedBy>
  <cp:revision>12</cp:revision>
  <dcterms:created xsi:type="dcterms:W3CDTF">2013-01-27T09:14:16Z</dcterms:created>
  <dcterms:modified xsi:type="dcterms:W3CDTF">2026-05-21T11:07:40Z</dcterms:modified>
  <cp:category/>
</cp:coreProperties>
</file>